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092fbb3-79ea-4e07-81b3-49c1f313b714}">
          <p14:sldIdLst>
            <p14:sldId id="256"/>
          </p14:sldIdLst>
        </p14:section>
        <p14:section name="Problem" id="{71a99001-4cbd-bb21-d1ee-1067c4686c8e}">
          <p14:sldIdLst>
            <p14:sldId id="257"/>
            <p14:sldId id="258"/>
          </p14:sldIdLst>
        </p14:section>
        <p14:section name="Solution" id="{abbe95d7-bb20-48dd-4ea7-dee1f1305154}">
          <p14:sldIdLst>
            <p14:sldId id="259"/>
            <p14:sldId id="260"/>
            <p14:sldId id="261"/>
            <p14:sldId id="262"/>
          </p14:sldIdLst>
        </p14:section>
        <p14:section name="Evidence" id="{3f72f0bf-e2ca-6e9f-13d6-b3dcbcf5c9aa}">
          <p14:sldIdLst>
            <p14:sldId id="263"/>
            <p14:sldId id="264"/>
            <p14:sldId id="265"/>
          </p14:sldIdLst>
        </p14:section>
        <p14:section name="Close" id="{c2532a0e-543a-865b-f9c2-e8c6d8b01b2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2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239"/>
                </a:solidFill>
                <a:latin typeface="+mn-lt"/>
              </a:rPr>
              <a:t>Global accuracy per federated round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accuracy (%)</c:v>
                </c:pt>
              </c:strCache>
            </c:strRef>
          </c:tx>
          <c:spPr>
            <a:solidFill>
              <a:srgbClr val="0E8F8F"/>
            </a:solidFill>
            <a:ln w="38100" cap="flat">
              <a:solidFill>
                <a:srgbClr val="0E8F8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23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E8F8F"/>
              </a:solidFill>
              <a:ln w="9525" cap="flat">
                <a:solidFill>
                  <a:srgbClr val="0E8F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Round 1</c:v>
                  </c:pt>
                  <c:pt idx="1">
                    <c:v>Round 2</c:v>
                  </c:pt>
                  <c:pt idx="2">
                    <c:v>Round 3</c:v>
                  </c:pt>
                  <c:pt idx="3">
                    <c:v>Round 4</c:v>
                  </c:pt>
                  <c:pt idx="4">
                    <c:v>Round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97.27</c:v>
                </c:pt>
                <c:pt idx="1">
                  <c:v>97.39</c:v>
                </c:pt>
                <c:pt idx="2">
                  <c:v>97.39</c:v>
                </c:pt>
                <c:pt idx="3">
                  <c:v>97.39</c:v>
                </c:pt>
                <c:pt idx="4">
                  <c:v>97.15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223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.6"/>
          <c:min val="96.8"/>
        </c:scaling>
        <c:delete val="0"/>
        <c:axPos val="l"/>
        <c:majorGridlines>
          <c:spPr>
            <a:ln w="6350" cap="flat">
              <a:solidFill>
                <a:srgbClr val="D9E2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2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239"/>
                </a:solidFill>
                <a:latin typeface="+mn-lt"/>
              </a:rPr>
              <a:t>Recall per risk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0E8F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2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Mild</c:v>
                  </c:pt>
                  <c:pt idx="2">
                    <c:v>Moderate</c:v>
                  </c:pt>
                  <c:pt idx="3">
                    <c:v>Severe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79.8</c:v>
                </c:pt>
                <c:pt idx="2">
                  <c:v>100</c:v>
                </c:pt>
                <c:pt idx="3">
                  <c:v>97.6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22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E2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PulseForge builds a private, explainable health-risk monitor. Data stays on each device; only noisy model weights are shared; every prediction comes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barriers: central storage risk, siloed data, and unexplained scores. Usually you give up one of privacy, accuracy or explainability. We keep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data is the most sensitive category, sensing is continuous, decisions are high-stakes, and regulation demands minimisation.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federated learning, differential privacy, explainable AI. The personalised local model is the user's private health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collect, protect with DP, aggregate on the server, personalise locally, explain and alert. Only noisy weights reach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6,000 records (2,314 real, 3,686 synthetic via SMOTE), 17 features, 4 classes, split across 3 non-IID clients. Test set is real records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 2R/(N alpha), noise scale b = sensitivity / epsilon, one release at the final round. Explanations and raw data never leave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97.15 percent under epsilon 1.0 versus 97.39 percent without DP. Normal and Moderate recall are 100 percent; Mild is the weak class because it overlaps physiologically with Severe.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global feature importance from the DP-protected weights; the values are absolute coefficient weights. Right: a per-patient alert from the on-device SHAP LinearExplainer.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paper is published at IEEE MPCON 2026; the federated learning with explainable AI paper has been submitted to IEEE. Code and model are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is real data through Google Fit, one federated client per user. We are clear that this is a research prototype and not a diagnostic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team and the repository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154680"/>
            <a:ext cx="9875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PulseForge  |  Digital Twin Challenge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Anurag-kushwaha2207/PulseForge_Pranveer-Singh-Institute-of-Technology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label"/>
          <p:cNvSpPr txBox="1"/>
          <p:nvPr/>
        </p:nvSpPr>
        <p:spPr>
          <a:xfrm>
            <a:off x="82296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DIGITAL TWIN CHALLENGE 2026  |  HAPPIEST HEALTH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PulseForge</a:t>
            </a: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1546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Privacy-preserving, explainable health-risk monitoring with federated learning</a:t>
            </a:r>
            <a:endParaRPr lang="en-US" sz="2200" dirty="0"/>
          </a:p>
        </p:txBody>
      </p:sp>
      <p:sp>
        <p:nvSpPr>
          <p:cNvPr id="5" name="Pulse line"/>
          <p:cNvSpPr/>
          <p:nvPr/>
        </p:nvSpPr>
        <p:spPr>
          <a:xfrm>
            <a:off x="822960" y="4343400"/>
            <a:ext cx="10515600" cy="1188720"/>
          </a:xfrm>
          <a:custGeom>
            <a:avLst/>
            <a:gdLst/>
            <a:ahLst/>
            <a:cxnLst/>
            <a:rect l="l" t="t" r="r" b="b"/>
            <a:pathLst>
              <a:path w="10515600" h="1188720">
                <a:moveTo>
                  <a:pt x="0" y="594360"/>
                </a:moveTo>
                <a:lnTo>
                  <a:pt x="3785616" y="594360"/>
                </a:lnTo>
                <a:lnTo>
                  <a:pt x="4101084" y="427939"/>
                </a:lnTo>
                <a:lnTo>
                  <a:pt x="4416552" y="594360"/>
                </a:lnTo>
                <a:lnTo>
                  <a:pt x="4942332" y="594360"/>
                </a:lnTo>
                <a:lnTo>
                  <a:pt x="5152644" y="689458"/>
                </a:lnTo>
                <a:lnTo>
                  <a:pt x="5468112" y="47549"/>
                </a:lnTo>
                <a:lnTo>
                  <a:pt x="5783580" y="1129284"/>
                </a:lnTo>
                <a:lnTo>
                  <a:pt x="6099048" y="594360"/>
                </a:lnTo>
                <a:lnTo>
                  <a:pt x="6729984" y="594360"/>
                </a:lnTo>
                <a:lnTo>
                  <a:pt x="6940296" y="475488"/>
                </a:lnTo>
                <a:lnTo>
                  <a:pt x="7255764" y="594360"/>
                </a:lnTo>
                <a:lnTo>
                  <a:pt x="10515600" y="594360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  <p:sp>
        <p:nvSpPr>
          <p:cNvPr id="6" name="Team line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Team PulseForge  |  Pranveer Singh Institute of Technology, Kanpur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Health AI is stuck on trust</a:t>
            </a:r>
            <a:endParaRPr lang="en-US" sz="34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14500"/>
            <a:ext cx="320040" cy="320040"/>
          </a:xfrm>
          <a:prstGeom prst="rect">
            <a:avLst/>
          </a:prstGeom>
        </p:spPr>
      </p:pic>
      <p:sp>
        <p:nvSpPr>
          <p:cNvPr id="5" name="Problem 1 title"/>
          <p:cNvSpPr txBox="1"/>
          <p:nvPr/>
        </p:nvSpPr>
        <p:spPr>
          <a:xfrm>
            <a:off x="1463040" y="1536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Centralised data is a liability</a:t>
            </a:r>
            <a:endParaRPr lang="en-US" sz="2000" dirty="0"/>
          </a:p>
        </p:txBody>
      </p:sp>
      <p:sp>
        <p:nvSpPr>
          <p:cNvPr id="6" name="Problem 1 text"/>
          <p:cNvSpPr txBox="1"/>
          <p:nvPr/>
        </p:nvSpPr>
        <p:spPr>
          <a:xfrm>
            <a:off x="1463040" y="193852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Pooling wearable and hospital records on one server creates a single point of failure. One breach exposes thousands of patients.</a:t>
            </a:r>
            <a:endParaRPr lang="en-US" sz="1500" dirty="0"/>
          </a:p>
        </p:txBody>
      </p:sp>
      <p:sp>
        <p:nvSpPr>
          <p:cNvPr id="7" name="Problem 2 circle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177540"/>
            <a:ext cx="320040" cy="320040"/>
          </a:xfrm>
          <a:prstGeom prst="rect">
            <a:avLst/>
          </a:prstGeom>
        </p:spPr>
      </p:pic>
      <p:sp>
        <p:nvSpPr>
          <p:cNvPr id="9" name="Problem 2 title"/>
          <p:cNvSpPr txBox="1"/>
          <p:nvPr/>
        </p:nvSpPr>
        <p:spPr>
          <a:xfrm>
            <a:off x="1463040" y="2999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stays siloed</a:t>
            </a:r>
            <a:endParaRPr lang="en-US" sz="2000" dirty="0"/>
          </a:p>
        </p:txBody>
      </p:sp>
      <p:sp>
        <p:nvSpPr>
          <p:cNvPr id="10" name="Problem 2 text"/>
          <p:cNvSpPr txBox="1"/>
          <p:nvPr/>
        </p:nvSpPr>
        <p:spPr>
          <a:xfrm>
            <a:off x="1463040" y="340156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Hospitals and users rightly refuse to share raw records, so models are trained on small, biased samples.</a:t>
            </a:r>
            <a:endParaRPr lang="en-US" sz="1500" dirty="0"/>
          </a:p>
        </p:txBody>
      </p:sp>
      <p:sp>
        <p:nvSpPr>
          <p:cNvPr id="11" name="Problem 3 circle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640580"/>
            <a:ext cx="320040" cy="320040"/>
          </a:xfrm>
          <a:prstGeom prst="rect">
            <a:avLst/>
          </a:prstGeom>
        </p:spPr>
      </p:pic>
      <p:sp>
        <p:nvSpPr>
          <p:cNvPr id="13" name="Problem 3 title"/>
          <p:cNvSpPr txBox="1"/>
          <p:nvPr/>
        </p:nvSpPr>
        <p:spPr>
          <a:xfrm>
            <a:off x="1463040" y="4462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Black-box risk scores</a:t>
            </a:r>
            <a:endParaRPr lang="en-US" sz="2000" dirty="0"/>
          </a:p>
        </p:txBody>
      </p:sp>
      <p:sp>
        <p:nvSpPr>
          <p:cNvPr id="14" name="Problem 3 text"/>
          <p:cNvSpPr txBox="1"/>
          <p:nvPr/>
        </p:nvSpPr>
        <p:spPr>
          <a:xfrm>
            <a:off x="1463040" y="486460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label with no reasons is hard for doctors to trust or act on, and hard for patients to accept.</a:t>
            </a:r>
            <a:endParaRPr lang="en-US" sz="1500" dirty="0"/>
          </a:p>
        </p:txBody>
      </p:sp>
      <p:sp>
        <p:nvSpPr>
          <p:cNvPr id="15" name="Gap panel"/>
          <p:cNvSpPr/>
          <p:nvPr/>
        </p:nvSpPr>
        <p:spPr>
          <a:xfrm>
            <a:off x="7680960" y="1554480"/>
            <a:ext cx="3959352" cy="4251960"/>
          </a:xfrm>
          <a:prstGeom prst="roundRect">
            <a:avLst>
              <a:gd name="adj" fmla="val 2771"/>
            </a:avLst>
          </a:prstGeom>
          <a:solidFill>
            <a:schemeClr val="tx1"/>
          </a:solidFill>
          <a:ln/>
        </p:spPr>
      </p:sp>
      <p:sp>
        <p:nvSpPr>
          <p:cNvPr id="16" name="Gap label"/>
          <p:cNvSpPr txBox="1"/>
          <p:nvPr/>
        </p:nvSpPr>
        <p:spPr>
          <a:xfrm>
            <a:off x="80467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THE GAP</a:t>
            </a:r>
            <a:endParaRPr lang="en-US" sz="1300" dirty="0"/>
          </a:p>
        </p:txBody>
      </p:sp>
      <p:sp>
        <p:nvSpPr>
          <p:cNvPr id="17" name="Gap statement"/>
          <p:cNvSpPr txBox="1"/>
          <p:nvPr/>
        </p:nvSpPr>
        <p:spPr>
          <a:xfrm>
            <a:off x="8046720" y="23774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Privacy, accuracy and explainability are usually traded against each other.</a:t>
            </a:r>
            <a:endParaRPr lang="en-US" sz="2400" dirty="0"/>
          </a:p>
        </p:txBody>
      </p:sp>
      <p:sp>
        <p:nvSpPr>
          <p:cNvPr id="18" name="Gap answer"/>
          <p:cNvSpPr txBox="1"/>
          <p:nvPr/>
        </p:nvSpPr>
        <p:spPr>
          <a:xfrm>
            <a:off x="8046720" y="4663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PulseForge delivers all three.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health, and why now</a:t>
            </a:r>
            <a:endParaRPr lang="en-US" sz="3400" dirty="0"/>
          </a:p>
        </p:txBody>
      </p:sp>
      <p:sp>
        <p:nvSpPr>
          <p:cNvPr id="3" name="Why card 1"/>
          <p:cNvSpPr/>
          <p:nvPr/>
        </p:nvSpPr>
        <p:spPr>
          <a:xfrm>
            <a:off x="548640" y="15544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Why 1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h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Why 1 title"/>
          <p:cNvSpPr txBox="1"/>
          <p:nvPr/>
        </p:nvSpPr>
        <p:spPr>
          <a:xfrm>
            <a:off x="82296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Most sensitive data</a:t>
            </a:r>
            <a:endParaRPr lang="en-US" sz="1900" dirty="0"/>
          </a:p>
        </p:txBody>
      </p:sp>
      <p:sp>
        <p:nvSpPr>
          <p:cNvPr id="7" name="Why 1 text"/>
          <p:cNvSpPr txBox="1"/>
          <p:nvPr/>
        </p:nvSpPr>
        <p:spPr>
          <a:xfrm>
            <a:off x="82296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Health records reveal conditions, habits and identity. Misuse cannot be undone.</a:t>
            </a:r>
            <a:endParaRPr lang="en-US" sz="1500" dirty="0"/>
          </a:p>
        </p:txBody>
      </p:sp>
      <p:sp>
        <p:nvSpPr>
          <p:cNvPr id="8" name="Why card 2"/>
          <p:cNvSpPr/>
          <p:nvPr/>
        </p:nvSpPr>
        <p:spPr>
          <a:xfrm>
            <a:off x="3374136" y="15544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Why 2 circle"/>
          <p:cNvSpPr/>
          <p:nvPr/>
        </p:nvSpPr>
        <p:spPr>
          <a:xfrm>
            <a:off x="3648456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Wh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1988820"/>
            <a:ext cx="320040" cy="320040"/>
          </a:xfrm>
          <a:prstGeom prst="rect">
            <a:avLst/>
          </a:prstGeom>
        </p:spPr>
      </p:pic>
      <p:sp>
        <p:nvSpPr>
          <p:cNvPr id="11" name="Why 2 title"/>
          <p:cNvSpPr txBox="1"/>
          <p:nvPr/>
        </p:nvSpPr>
        <p:spPr>
          <a:xfrm>
            <a:off x="3648456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Always-on sensing</a:t>
            </a:r>
            <a:endParaRPr lang="en-US" sz="1900" dirty="0"/>
          </a:p>
        </p:txBody>
      </p:sp>
      <p:sp>
        <p:nvSpPr>
          <p:cNvPr id="12" name="Why 2 text"/>
          <p:cNvSpPr txBox="1"/>
          <p:nvPr/>
        </p:nvSpPr>
        <p:spPr>
          <a:xfrm>
            <a:off x="3648456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Wearables stream vitals around the clock, enabling early warning before symptoms escalate.</a:t>
            </a:r>
            <a:endParaRPr lang="en-US" sz="1500" dirty="0"/>
          </a:p>
        </p:txBody>
      </p:sp>
      <p:sp>
        <p:nvSpPr>
          <p:cNvPr id="13" name="Why card 3"/>
          <p:cNvSpPr/>
          <p:nvPr/>
        </p:nvSpPr>
        <p:spPr>
          <a:xfrm>
            <a:off x="6199632" y="15544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Why 3 circle"/>
          <p:cNvSpPr/>
          <p:nvPr/>
        </p:nvSpPr>
        <p:spPr>
          <a:xfrm>
            <a:off x="6473952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h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988820"/>
            <a:ext cx="320040" cy="320040"/>
          </a:xfrm>
          <a:prstGeom prst="rect">
            <a:avLst/>
          </a:prstGeom>
        </p:spPr>
      </p:pic>
      <p:sp>
        <p:nvSpPr>
          <p:cNvPr id="16" name="Why 3 title"/>
          <p:cNvSpPr txBox="1"/>
          <p:nvPr/>
        </p:nvSpPr>
        <p:spPr>
          <a:xfrm>
            <a:off x="6473952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High stakes</a:t>
            </a:r>
            <a:endParaRPr lang="en-US" sz="1900" dirty="0"/>
          </a:p>
        </p:txBody>
      </p:sp>
      <p:sp>
        <p:nvSpPr>
          <p:cNvPr id="17" name="Why 3 text"/>
          <p:cNvSpPr txBox="1"/>
          <p:nvPr/>
        </p:nvSpPr>
        <p:spPr>
          <a:xfrm>
            <a:off x="6473952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wrong or unexplained alert can delay care or cause needless worry.</a:t>
            </a:r>
            <a:endParaRPr lang="en-US" sz="1500" dirty="0"/>
          </a:p>
        </p:txBody>
      </p:sp>
      <p:sp>
        <p:nvSpPr>
          <p:cNvPr id="18" name="Why card 4"/>
          <p:cNvSpPr/>
          <p:nvPr/>
        </p:nvSpPr>
        <p:spPr>
          <a:xfrm>
            <a:off x="9025128" y="155448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Why 4 circle"/>
          <p:cNvSpPr/>
          <p:nvPr/>
        </p:nvSpPr>
        <p:spPr>
          <a:xfrm>
            <a:off x="9299448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Wh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1988820"/>
            <a:ext cx="320040" cy="320040"/>
          </a:xfrm>
          <a:prstGeom prst="rect">
            <a:avLst/>
          </a:prstGeom>
        </p:spPr>
      </p:pic>
      <p:sp>
        <p:nvSpPr>
          <p:cNvPr id="21" name="Why 4 title"/>
          <p:cNvSpPr txBox="1"/>
          <p:nvPr/>
        </p:nvSpPr>
        <p:spPr>
          <a:xfrm>
            <a:off x="9299448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Strict regulation</a:t>
            </a:r>
            <a:endParaRPr lang="en-US" sz="1900" dirty="0"/>
          </a:p>
        </p:txBody>
      </p:sp>
      <p:sp>
        <p:nvSpPr>
          <p:cNvPr id="22" name="Why 4 text"/>
          <p:cNvSpPr txBox="1"/>
          <p:nvPr/>
        </p:nvSpPr>
        <p:spPr>
          <a:xfrm>
            <a:off x="9299448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GDPR, HIPAA and India's DPDP Act 2023 push data minimisation by design.</a:t>
            </a:r>
            <a:endParaRPr lang="en-US" sz="1500" dirty="0"/>
          </a:p>
        </p:txBody>
      </p:sp>
      <p:sp>
        <p:nvSpPr>
          <p:cNvPr id="23" name="Why takeaway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4" name="Why takeaway text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Health is where privacy-preserving AI matters most, and where it is hardest to get right.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 together. Share nothing raw.</a:t>
            </a:r>
            <a:endParaRPr lang="en-US" sz="3400" dirty="0"/>
          </a:p>
        </p:txBody>
      </p:sp>
      <p:sp>
        <p:nvSpPr>
          <p:cNvPr id="3" name="Pillar 1"/>
          <p:cNvSpPr/>
          <p:nvPr/>
        </p:nvSpPr>
        <p:spPr>
          <a:xfrm>
            <a:off x="548640" y="15544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Pillar 1 circle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lla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342900" cy="342900"/>
          </a:xfrm>
          <a:prstGeom prst="rect">
            <a:avLst/>
          </a:prstGeom>
        </p:spPr>
      </p:pic>
      <p:sp>
        <p:nvSpPr>
          <p:cNvPr id="6" name="Pillar 1 name"/>
          <p:cNvSpPr txBox="1"/>
          <p:nvPr/>
        </p:nvSpPr>
        <p:spPr>
          <a:xfrm>
            <a:off x="86868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Federated Learning</a:t>
            </a:r>
            <a:endParaRPr lang="en-US" sz="2400" dirty="0"/>
          </a:p>
        </p:txBody>
      </p:sp>
      <p:sp>
        <p:nvSpPr>
          <p:cNvPr id="7" name="Pillar 1 text"/>
          <p:cNvSpPr txBox="1"/>
          <p:nvPr/>
        </p:nvSpPr>
        <p:spPr>
          <a:xfrm>
            <a:off x="868680" y="3200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device trains on its own data. Only model weights travel; a server averages them into one shared model.</a:t>
            </a:r>
            <a:endParaRPr lang="en-US" sz="1500" dirty="0"/>
          </a:p>
        </p:txBody>
      </p:sp>
      <p:sp>
        <p:nvSpPr>
          <p:cNvPr id="8" name="Pillar 2"/>
          <p:cNvSpPr/>
          <p:nvPr/>
        </p:nvSpPr>
        <p:spPr>
          <a:xfrm>
            <a:off x="4311396" y="15544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Pillar 2 circle"/>
          <p:cNvSpPr/>
          <p:nvPr/>
        </p:nvSpPr>
        <p:spPr>
          <a:xfrm>
            <a:off x="4631436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illa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886" y="2000250"/>
            <a:ext cx="342900" cy="342900"/>
          </a:xfrm>
          <a:prstGeom prst="rect">
            <a:avLst/>
          </a:prstGeom>
        </p:spPr>
      </p:pic>
      <p:sp>
        <p:nvSpPr>
          <p:cNvPr id="11" name="Pillar 2 name"/>
          <p:cNvSpPr txBox="1"/>
          <p:nvPr/>
        </p:nvSpPr>
        <p:spPr>
          <a:xfrm>
            <a:off x="4631436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Differential Privacy</a:t>
            </a:r>
            <a:endParaRPr lang="en-US" sz="2400" dirty="0"/>
          </a:p>
        </p:txBody>
      </p:sp>
      <p:sp>
        <p:nvSpPr>
          <p:cNvPr id="12" name="Pillar 2 text"/>
          <p:cNvSpPr txBox="1"/>
          <p:nvPr/>
        </p:nvSpPr>
        <p:spPr>
          <a:xfrm>
            <a:off x="4631436" y="3200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Calibrated Laplace noise is added to the weights before release (ε = 1.0), so no single record can be inferred.</a:t>
            </a:r>
            <a:endParaRPr lang="en-US" sz="1500" dirty="0"/>
          </a:p>
        </p:txBody>
      </p:sp>
      <p:sp>
        <p:nvSpPr>
          <p:cNvPr id="13" name="Pillar 3"/>
          <p:cNvSpPr/>
          <p:nvPr/>
        </p:nvSpPr>
        <p:spPr>
          <a:xfrm>
            <a:off x="8074152" y="155448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Pillar 3 circle"/>
          <p:cNvSpPr/>
          <p:nvPr/>
        </p:nvSpPr>
        <p:spPr>
          <a:xfrm>
            <a:off x="8394192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illa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642" y="2000250"/>
            <a:ext cx="342900" cy="342900"/>
          </a:xfrm>
          <a:prstGeom prst="rect">
            <a:avLst/>
          </a:prstGeom>
        </p:spPr>
      </p:pic>
      <p:sp>
        <p:nvSpPr>
          <p:cNvPr id="16" name="Pillar 3 name"/>
          <p:cNvSpPr txBox="1"/>
          <p:nvPr/>
        </p:nvSpPr>
        <p:spPr>
          <a:xfrm>
            <a:off x="8394192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Explainable AI</a:t>
            </a:r>
            <a:endParaRPr lang="en-US" sz="2400" dirty="0"/>
          </a:p>
        </p:txBody>
      </p:sp>
      <p:sp>
        <p:nvSpPr>
          <p:cNvPr id="17" name="Pillar 3 text"/>
          <p:cNvSpPr txBox="1"/>
          <p:nvPr/>
        </p:nvSpPr>
        <p:spPr>
          <a:xfrm>
            <a:off x="8394192" y="3200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SHAP shows the top factors behind every prediction, computed on the device and never on a server.</a:t>
            </a:r>
            <a:endParaRPr lang="en-US" sz="1500" dirty="0"/>
          </a:p>
        </p:txBody>
      </p:sp>
      <p:sp>
        <p:nvSpPr>
          <p:cNvPr id="18" name="Output band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9" name="Output text"/>
          <p:cNvSpPr txBox="1"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Output: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 risk class (Normal, Mild, Moderate or Severe) with its top-3 reasons, delivered on the user's device by a personalised model that acts as their private health twin.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Raw data never leaves the device</a:t>
            </a:r>
            <a:endParaRPr lang="en-US" sz="3400" dirty="0"/>
          </a:p>
        </p:txBody>
      </p:sp>
      <p:sp>
        <p:nvSpPr>
          <p:cNvPr id="3" name="Stage 1"/>
          <p:cNvSpPr/>
          <p:nvPr/>
        </p:nvSpPr>
        <p:spPr>
          <a:xfrm>
            <a:off x="548640" y="155448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Stage 1 circl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6" name="Stage 1 tag"/>
          <p:cNvSpPr txBox="1"/>
          <p:nvPr/>
        </p:nvSpPr>
        <p:spPr>
          <a:xfrm>
            <a:off x="777240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ON DEVICE</a:t>
            </a:r>
            <a:endParaRPr lang="en-US" sz="1100" dirty="0"/>
          </a:p>
        </p:txBody>
      </p:sp>
      <p:sp>
        <p:nvSpPr>
          <p:cNvPr id="7" name="Stage 1 title"/>
          <p:cNvSpPr txBox="1"/>
          <p:nvPr/>
        </p:nvSpPr>
        <p:spPr>
          <a:xfrm>
            <a:off x="777240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</a:t>
            </a:r>
            <a:endParaRPr lang="en-US" sz="1800" dirty="0"/>
          </a:p>
        </p:txBody>
      </p:sp>
      <p:sp>
        <p:nvSpPr>
          <p:cNvPr id="8" name="Stage 1 text"/>
          <p:cNvSpPr txBox="1"/>
          <p:nvPr/>
        </p:nvSpPr>
        <p:spPr>
          <a:xfrm>
            <a:off x="777240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Wearable or Google Fit vitals: heart rate, SpO2, BP, glucose, sleep, stress.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542032" y="2926080"/>
            <a:ext cx="26517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Stage 2"/>
          <p:cNvSpPr/>
          <p:nvPr/>
        </p:nvSpPr>
        <p:spPr>
          <a:xfrm>
            <a:off x="2830068" y="155448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1" name="Stage 2 circle"/>
          <p:cNvSpPr/>
          <p:nvPr/>
        </p:nvSpPr>
        <p:spPr>
          <a:xfrm>
            <a:off x="3058668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ta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58" y="1931670"/>
            <a:ext cx="297180" cy="297180"/>
          </a:xfrm>
          <a:prstGeom prst="rect">
            <a:avLst/>
          </a:prstGeom>
        </p:spPr>
      </p:pic>
      <p:sp>
        <p:nvSpPr>
          <p:cNvPr id="13" name="Stage 2 tag"/>
          <p:cNvSpPr txBox="1"/>
          <p:nvPr/>
        </p:nvSpPr>
        <p:spPr>
          <a:xfrm>
            <a:off x="3058668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ON DEVICE</a:t>
            </a:r>
            <a:endParaRPr lang="en-US" sz="1100" dirty="0"/>
          </a:p>
        </p:txBody>
      </p:sp>
      <p:sp>
        <p:nvSpPr>
          <p:cNvPr id="14" name="Stage 2 title"/>
          <p:cNvSpPr txBox="1"/>
          <p:nvPr/>
        </p:nvSpPr>
        <p:spPr>
          <a:xfrm>
            <a:off x="3058668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Protect</a:t>
            </a:r>
            <a:endParaRPr lang="en-US" sz="1800" dirty="0"/>
          </a:p>
        </p:txBody>
      </p:sp>
      <p:sp>
        <p:nvSpPr>
          <p:cNvPr id="15" name="Stage 2 text"/>
          <p:cNvSpPr txBox="1"/>
          <p:nvPr/>
        </p:nvSpPr>
        <p:spPr>
          <a:xfrm>
            <a:off x="3058668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Local model trains on-device. Laplace noise is added once, at the final round.</a:t>
            </a:r>
            <a:endParaRPr lang="en-US" sz="1400" dirty="0"/>
          </a:p>
        </p:txBody>
      </p:sp>
      <p:sp>
        <p:nvSpPr>
          <p:cNvPr id="16" name="Arrow 2"/>
          <p:cNvSpPr/>
          <p:nvPr/>
        </p:nvSpPr>
        <p:spPr>
          <a:xfrm>
            <a:off x="4823460" y="2926080"/>
            <a:ext cx="26517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Stage 3"/>
          <p:cNvSpPr/>
          <p:nvPr/>
        </p:nvSpPr>
        <p:spPr>
          <a:xfrm>
            <a:off x="5111496" y="155448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tx1"/>
          </a:solidFill>
          <a:ln/>
        </p:spPr>
      </p:sp>
      <p:sp>
        <p:nvSpPr>
          <p:cNvPr id="18" name="Stage 3 circle"/>
          <p:cNvSpPr/>
          <p:nvPr/>
        </p:nvSpPr>
        <p:spPr>
          <a:xfrm>
            <a:off x="5340096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Sta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686" y="1931670"/>
            <a:ext cx="297180" cy="297180"/>
          </a:xfrm>
          <a:prstGeom prst="rect">
            <a:avLst/>
          </a:prstGeom>
        </p:spPr>
      </p:pic>
      <p:sp>
        <p:nvSpPr>
          <p:cNvPr id="20" name="Stage 3 tag"/>
          <p:cNvSpPr txBox="1"/>
          <p:nvPr/>
        </p:nvSpPr>
        <p:spPr>
          <a:xfrm>
            <a:off x="5340096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SERVER</a:t>
            </a:r>
            <a:endParaRPr lang="en-US" sz="1100" dirty="0"/>
          </a:p>
        </p:txBody>
      </p:sp>
      <p:sp>
        <p:nvSpPr>
          <p:cNvPr id="21" name="Stage 3 title"/>
          <p:cNvSpPr txBox="1"/>
          <p:nvPr/>
        </p:nvSpPr>
        <p:spPr>
          <a:xfrm>
            <a:off x="5340096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Aggregate</a:t>
            </a:r>
            <a:endParaRPr lang="en-US" sz="1800" dirty="0"/>
          </a:p>
        </p:txBody>
      </p:sp>
      <p:sp>
        <p:nvSpPr>
          <p:cNvPr id="22" name="Stage 3 text"/>
          <p:cNvSpPr txBox="1"/>
          <p:nvPr/>
        </p:nvSpPr>
        <p:spPr>
          <a:xfrm>
            <a:off x="5340096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Size-weighted FedAvg over noisy weights. Mean and variance only for scaling.</a:t>
            </a:r>
            <a:endParaRPr lang="en-US" sz="1400" dirty="0"/>
          </a:p>
        </p:txBody>
      </p:sp>
      <p:sp>
        <p:nvSpPr>
          <p:cNvPr id="23" name="Arrow 3"/>
          <p:cNvSpPr/>
          <p:nvPr/>
        </p:nvSpPr>
        <p:spPr>
          <a:xfrm>
            <a:off x="7104888" y="2926080"/>
            <a:ext cx="26517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Stage 4"/>
          <p:cNvSpPr/>
          <p:nvPr/>
        </p:nvSpPr>
        <p:spPr>
          <a:xfrm>
            <a:off x="7392924" y="155448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5" name="Stage 4 circle"/>
          <p:cNvSpPr/>
          <p:nvPr/>
        </p:nvSpPr>
        <p:spPr>
          <a:xfrm>
            <a:off x="7621524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Stag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114" y="1931670"/>
            <a:ext cx="297180" cy="297180"/>
          </a:xfrm>
          <a:prstGeom prst="rect">
            <a:avLst/>
          </a:prstGeom>
        </p:spPr>
      </p:pic>
      <p:sp>
        <p:nvSpPr>
          <p:cNvPr id="27" name="Stage 4 tag"/>
          <p:cNvSpPr txBox="1"/>
          <p:nvPr/>
        </p:nvSpPr>
        <p:spPr>
          <a:xfrm>
            <a:off x="7621524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ON DEVICE</a:t>
            </a:r>
            <a:endParaRPr lang="en-US" sz="1100" dirty="0"/>
          </a:p>
        </p:txBody>
      </p:sp>
      <p:sp>
        <p:nvSpPr>
          <p:cNvPr id="28" name="Stage 4 title"/>
          <p:cNvSpPr txBox="1"/>
          <p:nvPr/>
        </p:nvSpPr>
        <p:spPr>
          <a:xfrm>
            <a:off x="7621524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Personalise</a:t>
            </a:r>
            <a:endParaRPr lang="en-US" sz="1800" dirty="0"/>
          </a:p>
        </p:txBody>
      </p:sp>
      <p:sp>
        <p:nvSpPr>
          <p:cNvPr id="29" name="Stage 4 text"/>
          <p:cNvSpPr txBox="1"/>
          <p:nvPr/>
        </p:nvSpPr>
        <p:spPr>
          <a:xfrm>
            <a:off x="7621524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Global model is fine-tuned locally into the user's private health twin.</a:t>
            </a:r>
            <a:endParaRPr lang="en-US" sz="1400" dirty="0"/>
          </a:p>
        </p:txBody>
      </p:sp>
      <p:sp>
        <p:nvSpPr>
          <p:cNvPr id="30" name="Arrow 4"/>
          <p:cNvSpPr/>
          <p:nvPr/>
        </p:nvSpPr>
        <p:spPr>
          <a:xfrm>
            <a:off x="9386316" y="2926080"/>
            <a:ext cx="26517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1" name="Stage 5"/>
          <p:cNvSpPr/>
          <p:nvPr/>
        </p:nvSpPr>
        <p:spPr>
          <a:xfrm>
            <a:off x="9674352" y="1554480"/>
            <a:ext cx="1965960" cy="3108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32" name="Stage 5 circle"/>
          <p:cNvSpPr/>
          <p:nvPr/>
        </p:nvSpPr>
        <p:spPr>
          <a:xfrm>
            <a:off x="9902952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Stag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542" y="1931670"/>
            <a:ext cx="297180" cy="297180"/>
          </a:xfrm>
          <a:prstGeom prst="rect">
            <a:avLst/>
          </a:prstGeom>
        </p:spPr>
      </p:pic>
      <p:sp>
        <p:nvSpPr>
          <p:cNvPr id="34" name="Stage 5 tag"/>
          <p:cNvSpPr txBox="1"/>
          <p:nvPr/>
        </p:nvSpPr>
        <p:spPr>
          <a:xfrm>
            <a:off x="9902952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ON DEVICE</a:t>
            </a:r>
            <a:endParaRPr lang="en-US" sz="1100" dirty="0"/>
          </a:p>
        </p:txBody>
      </p:sp>
      <p:sp>
        <p:nvSpPr>
          <p:cNvPr id="35" name="Stage 5 title"/>
          <p:cNvSpPr txBox="1"/>
          <p:nvPr/>
        </p:nvSpPr>
        <p:spPr>
          <a:xfrm>
            <a:off x="9902952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 and alert</a:t>
            </a:r>
            <a:endParaRPr lang="en-US" sz="1800" dirty="0"/>
          </a:p>
        </p:txBody>
      </p:sp>
      <p:sp>
        <p:nvSpPr>
          <p:cNvPr id="36" name="Stage 5 text"/>
          <p:cNvSpPr txBox="1"/>
          <p:nvPr/>
        </p:nvSpPr>
        <p:spPr>
          <a:xfrm>
            <a:off x="9902952" y="32004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Risk class plus SHAP top-3 factors become an alert on the phone.</a:t>
            </a:r>
            <a:endParaRPr lang="en-US" sz="1400" dirty="0"/>
          </a:p>
        </p:txBody>
      </p:sp>
      <p:sp>
        <p:nvSpPr>
          <p:cNvPr id="37" name="Private zone left"/>
          <p:cNvSpPr/>
          <p:nvPr/>
        </p:nvSpPr>
        <p:spPr>
          <a:xfrm>
            <a:off x="548640" y="4937760"/>
            <a:ext cx="4247388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8" name="Private zone left text"/>
          <p:cNvSpPr txBox="1"/>
          <p:nvPr/>
        </p:nvSpPr>
        <p:spPr>
          <a:xfrm>
            <a:off x="548640" y="4937760"/>
            <a:ext cx="4247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Private zone: raw data stays here</a:t>
            </a:r>
            <a:endParaRPr lang="en-US" sz="1300" dirty="0"/>
          </a:p>
        </p:txBody>
      </p:sp>
      <p:sp>
        <p:nvSpPr>
          <p:cNvPr id="39" name="Server zone"/>
          <p:cNvSpPr/>
          <p:nvPr/>
        </p:nvSpPr>
        <p:spPr>
          <a:xfrm>
            <a:off x="5111496" y="4937760"/>
            <a:ext cx="196596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40" name="Server zone text"/>
          <p:cNvSpPr txBox="1"/>
          <p:nvPr/>
        </p:nvSpPr>
        <p:spPr>
          <a:xfrm>
            <a:off x="5111496" y="4937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Sees noisy weights only</a:t>
            </a:r>
            <a:endParaRPr lang="en-US" sz="1300" dirty="0"/>
          </a:p>
        </p:txBody>
      </p:sp>
      <p:sp>
        <p:nvSpPr>
          <p:cNvPr id="41" name="Private zone right"/>
          <p:cNvSpPr/>
          <p:nvPr/>
        </p:nvSpPr>
        <p:spPr>
          <a:xfrm>
            <a:off x="7392924" y="4937760"/>
            <a:ext cx="4247388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42" name="Private zone right text"/>
          <p:cNvSpPr txBox="1"/>
          <p:nvPr/>
        </p:nvSpPr>
        <p:spPr>
          <a:xfrm>
            <a:off x="7392924" y="4937760"/>
            <a:ext cx="4247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Private zone: inference on device</a:t>
            </a:r>
            <a:endParaRPr lang="en-US" sz="1300" dirty="0"/>
          </a:p>
        </p:txBody>
      </p:sp>
      <p:sp>
        <p:nvSpPr>
          <p:cNvPr id="43" name="Architecture caption"/>
          <p:cNvSpPr txBox="1"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Weights flow device to server to device. Raw data and explanations never travel.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we built it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Stat 1"/>
          <p:cNvSpPr txBox="1"/>
          <p:nvPr/>
        </p:nvSpPr>
        <p:spPr>
          <a:xfrm>
            <a:off x="777240" y="1536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6,000</a:t>
            </a:r>
            <a:endParaRPr lang="en-US" sz="3600" dirty="0"/>
          </a:p>
        </p:txBody>
      </p:sp>
      <p:sp>
        <p:nvSpPr>
          <p:cNvPr id="5" name="Stat 1 label"/>
          <p:cNvSpPr txBox="1"/>
          <p:nvPr/>
        </p:nvSpPr>
        <p:spPr>
          <a:xfrm>
            <a:off x="77724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records: 2,314 real + 3,686 SMOTE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74136" y="146304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7" name="Stat 2"/>
          <p:cNvSpPr txBox="1"/>
          <p:nvPr/>
        </p:nvSpPr>
        <p:spPr>
          <a:xfrm>
            <a:off x="3602736" y="1536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</a:t>
            </a:r>
            <a:endParaRPr lang="en-US" sz="3600" dirty="0"/>
          </a:p>
        </p:txBody>
      </p:sp>
      <p:sp>
        <p:nvSpPr>
          <p:cNvPr id="8" name="Stat 2 label"/>
          <p:cNvSpPr txBox="1"/>
          <p:nvPr/>
        </p:nvSpPr>
        <p:spPr>
          <a:xfrm>
            <a:off x="3602736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features: 13 vitals + 4 engineered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99632" y="146304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0" name="Stat 3"/>
          <p:cNvSpPr txBox="1"/>
          <p:nvPr/>
        </p:nvSpPr>
        <p:spPr>
          <a:xfrm>
            <a:off x="6428232" y="1536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</a:t>
            </a:r>
            <a:endParaRPr lang="en-US" sz="36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428232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risk classes: Normal to Severe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9025128" y="146304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Stat 4"/>
          <p:cNvSpPr txBox="1"/>
          <p:nvPr/>
        </p:nvSpPr>
        <p:spPr>
          <a:xfrm>
            <a:off x="9253728" y="1536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53728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non-IID clients (Dirichlet alpha = 1.0)</a:t>
            </a:r>
            <a:endParaRPr lang="en-US" sz="1400" dirty="0"/>
          </a:p>
        </p:txBody>
      </p:sp>
      <p:sp>
        <p:nvSpPr>
          <p:cNvPr id="15" name="Pipeline heading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pipeline</a:t>
            </a:r>
            <a:endParaRPr lang="en-US" sz="1800" dirty="0"/>
          </a:p>
        </p:txBody>
      </p:sp>
      <p:sp>
        <p:nvSpPr>
          <p:cNvPr id="16" name="Step 1 circle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1 number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Step 1 text"/>
          <p:cNvSpPr txBox="1"/>
          <p:nvPr/>
        </p:nvSpPr>
        <p:spPr>
          <a:xfrm>
            <a:off x="1097280" y="345643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 6,000 records into 3 non-IID client partitions</a:t>
            </a:r>
            <a:endParaRPr lang="en-US" sz="1500" dirty="0"/>
          </a:p>
        </p:txBody>
      </p:sp>
      <p:sp>
        <p:nvSpPr>
          <p:cNvPr id="19" name="Step 2 circle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2 number"/>
          <p:cNvSpPr txBox="1"/>
          <p:nvPr/>
        </p:nvSpPr>
        <p:spPr>
          <a:xfrm>
            <a:off x="5486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Step 2 text"/>
          <p:cNvSpPr txBox="1"/>
          <p:nvPr/>
        </p:nvSpPr>
        <p:spPr>
          <a:xfrm>
            <a:off x="1097280" y="4023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only mean and variance so every client scales features identically</a:t>
            </a:r>
            <a:endParaRPr lang="en-US" sz="1500" dirty="0"/>
          </a:p>
        </p:txBody>
      </p:sp>
      <p:sp>
        <p:nvSpPr>
          <p:cNvPr id="22" name="Step 3 circle"/>
          <p:cNvSpPr/>
          <p:nvPr/>
        </p:nvSpPr>
        <p:spPr>
          <a:xfrm>
            <a:off x="548640" y="4608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3 number"/>
          <p:cNvSpPr txBox="1"/>
          <p:nvPr/>
        </p:nvSpPr>
        <p:spPr>
          <a:xfrm>
            <a:off x="54864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tep 3 text"/>
          <p:cNvSpPr txBox="1"/>
          <p:nvPr/>
        </p:nvSpPr>
        <p:spPr>
          <a:xfrm>
            <a:off x="1097280" y="459028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 an L2-regularised logistic regression locally (SGD, 5 rounds)</a:t>
            </a:r>
            <a:endParaRPr lang="en-US" sz="1500" dirty="0"/>
          </a:p>
        </p:txBody>
      </p:sp>
      <p:sp>
        <p:nvSpPr>
          <p:cNvPr id="25" name="Step 4 circle"/>
          <p:cNvSpPr/>
          <p:nvPr/>
        </p:nvSpPr>
        <p:spPr>
          <a:xfrm>
            <a:off x="548640" y="51755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tep 4 number"/>
          <p:cNvSpPr txBox="1"/>
          <p:nvPr/>
        </p:nvSpPr>
        <p:spPr>
          <a:xfrm>
            <a:off x="54864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tep 4 text"/>
          <p:cNvSpPr txBox="1"/>
          <p:nvPr/>
        </p:nvSpPr>
        <p:spPr>
          <a:xfrm>
            <a:off x="1097280" y="515721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Laplace noise once, on the final round (ε = 1.0)</a:t>
            </a:r>
            <a:endParaRPr lang="en-US" sz="1500" dirty="0"/>
          </a:p>
        </p:txBody>
      </p:sp>
      <p:sp>
        <p:nvSpPr>
          <p:cNvPr id="28" name="Step 5 circle"/>
          <p:cNvSpPr/>
          <p:nvPr/>
        </p:nvSpPr>
        <p:spPr>
          <a:xfrm>
            <a:off x="548640" y="5742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5 number"/>
          <p:cNvSpPr txBox="1"/>
          <p:nvPr/>
        </p:nvSpPr>
        <p:spPr>
          <a:xfrm>
            <a:off x="548640" y="5742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tep 5 text"/>
          <p:cNvSpPr txBox="1"/>
          <p:nvPr/>
        </p:nvSpPr>
        <p:spPr>
          <a:xfrm>
            <a:off x="1097280" y="572414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Size-weighted FedAvg, then SHAP explanations on each device</a:t>
            </a:r>
            <a:endParaRPr lang="en-US" sz="1500" dirty="0"/>
          </a:p>
        </p:txBody>
      </p:sp>
      <p:sp>
        <p:nvSpPr>
          <p:cNvPr id="31" name="Stack heading"/>
          <p:cNvSpPr txBox="1"/>
          <p:nvPr/>
        </p:nvSpPr>
        <p:spPr>
          <a:xfrm>
            <a:off x="78638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32" name="Chip 1"/>
          <p:cNvSpPr/>
          <p:nvPr/>
        </p:nvSpPr>
        <p:spPr>
          <a:xfrm>
            <a:off x="7863840" y="352044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3" name="Chip 1 text"/>
          <p:cNvSpPr txBox="1"/>
          <p:nvPr/>
        </p:nvSpPr>
        <p:spPr>
          <a:xfrm>
            <a:off x="786384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Python 3</a:t>
            </a:r>
            <a:endParaRPr lang="en-US" sz="1400" dirty="0"/>
          </a:p>
        </p:txBody>
      </p:sp>
      <p:sp>
        <p:nvSpPr>
          <p:cNvPr id="34" name="Chip 2"/>
          <p:cNvSpPr/>
          <p:nvPr/>
        </p:nvSpPr>
        <p:spPr>
          <a:xfrm>
            <a:off x="9875520" y="352044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5" name="Chip 2 text"/>
          <p:cNvSpPr txBox="1"/>
          <p:nvPr/>
        </p:nvSpPr>
        <p:spPr>
          <a:xfrm>
            <a:off x="987552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36" name="Chip 3"/>
          <p:cNvSpPr/>
          <p:nvPr/>
        </p:nvSpPr>
        <p:spPr>
          <a:xfrm>
            <a:off x="7863840" y="429768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7" name="Chip 3 text"/>
          <p:cNvSpPr txBox="1"/>
          <p:nvPr/>
        </p:nvSpPr>
        <p:spPr>
          <a:xfrm>
            <a:off x="7863840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SHAP</a:t>
            </a:r>
            <a:endParaRPr lang="en-US" sz="1400" dirty="0"/>
          </a:p>
        </p:txBody>
      </p:sp>
      <p:sp>
        <p:nvSpPr>
          <p:cNvPr id="38" name="Chip 4"/>
          <p:cNvSpPr/>
          <p:nvPr/>
        </p:nvSpPr>
        <p:spPr>
          <a:xfrm>
            <a:off x="9875520" y="429768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9" name="Chip 4 text"/>
          <p:cNvSpPr txBox="1"/>
          <p:nvPr/>
        </p:nvSpPr>
        <p:spPr>
          <a:xfrm>
            <a:off x="9875520" y="4297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NumPy / pandas</a:t>
            </a:r>
            <a:endParaRPr lang="en-US" sz="1400" dirty="0"/>
          </a:p>
        </p:txBody>
      </p:sp>
      <p:sp>
        <p:nvSpPr>
          <p:cNvPr id="40" name="Chip 5"/>
          <p:cNvSpPr/>
          <p:nvPr/>
        </p:nvSpPr>
        <p:spPr>
          <a:xfrm>
            <a:off x="7863840" y="507492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1" name="Chip 5 text"/>
          <p:cNvSpPr txBox="1"/>
          <p:nvPr/>
        </p:nvSpPr>
        <p:spPr>
          <a:xfrm>
            <a:off x="7863840" y="5074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42" name="Chip 6"/>
          <p:cNvSpPr/>
          <p:nvPr/>
        </p:nvSpPr>
        <p:spPr>
          <a:xfrm>
            <a:off x="9875520" y="5074920"/>
            <a:ext cx="17830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3" name="Chip 6 text"/>
          <p:cNvSpPr txBox="1"/>
          <p:nvPr/>
        </p:nvSpPr>
        <p:spPr>
          <a:xfrm>
            <a:off x="9875520" y="5074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 / Kaggle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Privacy by design</a:t>
            </a:r>
            <a:endParaRPr lang="en-US" sz="3400" dirty="0"/>
          </a:p>
        </p:txBody>
      </p:sp>
      <p:sp>
        <p:nvSpPr>
          <p:cNvPr id="3" name="Formula panel"/>
          <p:cNvSpPr/>
          <p:nvPr/>
        </p:nvSpPr>
        <p:spPr>
          <a:xfrm>
            <a:off x="548640" y="146304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Formula label"/>
          <p:cNvSpPr txBox="1"/>
          <p:nvPr/>
        </p:nvSpPr>
        <p:spPr>
          <a:xfrm>
            <a:off x="91440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SINGLE-RELEASE LAPLACE MECHANISM</a:t>
            </a:r>
            <a:endParaRPr lang="en-US" sz="1200" dirty="0"/>
          </a:p>
        </p:txBody>
      </p:sp>
      <p:sp>
        <p:nvSpPr>
          <p:cNvPr id="5" name="Formula 1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Δf = 2R / (N · α)</a:t>
            </a:r>
            <a:endParaRPr lang="en-US" sz="2600" dirty="0"/>
          </a:p>
        </p:txBody>
      </p:sp>
      <p:sp>
        <p:nvSpPr>
          <p:cNvPr id="6" name="Formula 1 caption"/>
          <p:cNvSpPr txBox="1"/>
          <p:nvPr/>
        </p:nvSpPr>
        <p:spPr>
          <a:xfrm>
            <a:off x="91440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sensitivity of the local model</a:t>
            </a:r>
            <a:endParaRPr lang="en-US" sz="1400" dirty="0"/>
          </a:p>
        </p:txBody>
      </p:sp>
      <p:sp>
        <p:nvSpPr>
          <p:cNvPr id="7" name="Formula 2"/>
          <p:cNvSpPr txBox="1"/>
          <p:nvPr/>
        </p:nvSpPr>
        <p:spPr>
          <a:xfrm>
            <a:off x="91440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b = Δf / ε</a:t>
            </a:r>
            <a:endParaRPr lang="en-US" sz="2600" dirty="0"/>
          </a:p>
        </p:txBody>
      </p:sp>
      <p:sp>
        <p:nvSpPr>
          <p:cNvPr id="8" name="Formula 2 caption"/>
          <p:cNvSpPr txBox="1"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noise scale</a:t>
            </a:r>
            <a:endParaRPr lang="en-US" sz="1400" dirty="0"/>
          </a:p>
        </p:txBody>
      </p:sp>
      <p:sp>
        <p:nvSpPr>
          <p:cNvPr id="9" name="Formula 3"/>
          <p:cNvSpPr txBox="1"/>
          <p:nvPr/>
        </p:nvSpPr>
        <p:spPr>
          <a:xfrm>
            <a:off x="91440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w̃ = w + Lap(0, b)</a:t>
            </a:r>
            <a:endParaRPr lang="en-US" sz="2600" dirty="0"/>
          </a:p>
        </p:txBody>
      </p:sp>
      <p:sp>
        <p:nvSpPr>
          <p:cNvPr id="10" name="Formula 3 caption"/>
          <p:cNvSpPr txBox="1"/>
          <p:nvPr/>
        </p:nvSpPr>
        <p:spPr>
          <a:xfrm>
            <a:off x="91440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weights released to the server</a:t>
            </a:r>
            <a:endParaRPr lang="en-US" sz="1400" dirty="0"/>
          </a:p>
        </p:txBody>
      </p:sp>
      <p:sp>
        <p:nvSpPr>
          <p:cNvPr id="11" name="Formula note"/>
          <p:cNvSpPr txBox="1"/>
          <p:nvPr/>
        </p:nvSpPr>
        <p:spPr>
          <a:xfrm>
            <a:off x="914400" y="4937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 clip = 1.5, α = 0.20, ε = 1.0 gives b ≈ 0.009 per client. Noise is added only in the last round, so FedAvg converges cleanly first.</a:t>
            </a:r>
            <a:endParaRPr lang="en-US" sz="1400" dirty="0"/>
          </a:p>
        </p:txBody>
      </p:sp>
      <p:sp>
        <p:nvSpPr>
          <p:cNvPr id="12" name="Table heading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leaves the device?</a:t>
            </a:r>
            <a:endParaRPr lang="en-US" sz="1800" dirty="0"/>
          </a:p>
        </p:txBody>
      </p:sp>
      <p:graphicFrame>
        <p:nvGraphicFramePr>
          <p:cNvPr id="8" name="Shared 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2395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363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is shared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239"/>
                          </a:solidFill>
                        </a:rPr>
                        <a:t>Raw patient 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Never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239"/>
                          </a:solidFill>
                        </a:rPr>
                        <a:t>Feature statistics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</a:rPr>
                        <a:t>Mean and variance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239"/>
                          </a:solidFill>
                        </a:rPr>
                        <a:t>Model update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</a:rPr>
                        <a:t>Noisy weights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239"/>
                          </a:solidFill>
                        </a:rPr>
                        <a:t>SHAP explanations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</a:rPr>
                        <a:t>Stay on the device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239"/>
                          </a:solidFill>
                        </a:rPr>
                        <a:t>Global importance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A6A"/>
                          </a:solidFill>
                        </a:rPr>
                        <a:t>Post-processing: no extra privacy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erver callout"/>
          <p:cNvSpPr/>
          <p:nvPr/>
        </p:nvSpPr>
        <p:spPr>
          <a:xfrm>
            <a:off x="6400800" y="5212080"/>
            <a:ext cx="523951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5" name="Server callout text"/>
          <p:cNvSpPr txBox="1"/>
          <p:nvPr/>
        </p:nvSpPr>
        <p:spPr>
          <a:xfrm>
            <a:off x="6629400" y="5212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server only ever sees noisy weights, never a patient record.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Privacy costs under a quarter point</a:t>
            </a:r>
            <a:endParaRPr lang="en-US" sz="3400" dirty="0"/>
          </a:p>
        </p:txBody>
      </p:sp>
      <p:sp>
        <p:nvSpPr>
          <p:cNvPr id="3" name="Result stat 1"/>
          <p:cNvSpPr/>
          <p:nvPr/>
        </p:nvSpPr>
        <p:spPr>
          <a:xfrm>
            <a:off x="548640" y="14173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Result 1"/>
          <p:cNvSpPr txBox="1"/>
          <p:nvPr/>
        </p:nvSpPr>
        <p:spPr>
          <a:xfrm>
            <a:off x="822960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97.15%</a:t>
            </a:r>
            <a:endParaRPr lang="en-US" sz="36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82296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global accuracy with ε = 1.0 privacy</a:t>
            </a:r>
            <a:endParaRPr lang="en-US" sz="1400" dirty="0"/>
          </a:p>
        </p:txBody>
      </p:sp>
      <p:sp>
        <p:nvSpPr>
          <p:cNvPr id="6" name="Result stat 2"/>
          <p:cNvSpPr/>
          <p:nvPr/>
        </p:nvSpPr>
        <p:spPr>
          <a:xfrm>
            <a:off x="4311396" y="14173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Result 2"/>
          <p:cNvSpPr txBox="1"/>
          <p:nvPr/>
        </p:nvSpPr>
        <p:spPr>
          <a:xfrm>
            <a:off x="4585716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0.24 pt</a:t>
            </a:r>
            <a:endParaRPr lang="en-US" sz="36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4585716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cost of privacy (non-private: 97.39%)</a:t>
            </a:r>
            <a:endParaRPr lang="en-US" sz="1400" dirty="0"/>
          </a:p>
        </p:txBody>
      </p:sp>
      <p:sp>
        <p:nvSpPr>
          <p:cNvPr id="9" name="Result stat 3"/>
          <p:cNvSpPr/>
          <p:nvPr/>
        </p:nvSpPr>
        <p:spPr>
          <a:xfrm>
            <a:off x="8074152" y="141732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Result 3"/>
          <p:cNvSpPr txBox="1"/>
          <p:nvPr/>
        </p:nvSpPr>
        <p:spPr>
          <a:xfrm>
            <a:off x="8348472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8348472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raw patient records shared with the server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8346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6309360" y="2834640"/>
          <a:ext cx="533095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sults caption"/>
          <p:cNvSpPr txBox="1"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Noise is applied only in round 5. Mild overlaps with Severe: 17 of 104 Mild cases.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prediction comes with reasons</a:t>
            </a:r>
            <a:endParaRPr lang="en-US" sz="3400" dirty="0"/>
          </a:p>
        </p:txBody>
      </p:sp>
      <p:sp>
        <p:nvSpPr>
          <p:cNvPr id="3" name="Class card 1"/>
          <p:cNvSpPr/>
          <p:nvPr/>
        </p:nvSpPr>
        <p:spPr>
          <a:xfrm>
            <a:off x="548640" y="1463040"/>
            <a:ext cx="3246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Class dot 1"/>
          <p:cNvSpPr/>
          <p:nvPr/>
        </p:nvSpPr>
        <p:spPr>
          <a:xfrm>
            <a:off x="822960" y="173736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lass name 1"/>
          <p:cNvSpPr txBox="1"/>
          <p:nvPr/>
        </p:nvSpPr>
        <p:spPr>
          <a:xfrm>
            <a:off x="1188720" y="1682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Normal</a:t>
            </a:r>
            <a:endParaRPr lang="en-US" sz="1800" dirty="0"/>
          </a:p>
        </p:txBody>
      </p:sp>
      <p:sp>
        <p:nvSpPr>
          <p:cNvPr id="6" name="Class drivers 1"/>
          <p:cNvSpPr txBox="1"/>
          <p:nvPr/>
        </p:nvSpPr>
        <p:spPr>
          <a:xfrm>
            <a:off x="82296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Stress level  0.39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Sleep quality  0.37</a:t>
            </a:r>
            <a:endParaRPr lang="en-US" sz="1500" dirty="0"/>
          </a:p>
        </p:txBody>
      </p:sp>
      <p:sp>
        <p:nvSpPr>
          <p:cNvPr id="7" name="Class meaning 1"/>
          <p:cNvSpPr txBox="1"/>
          <p:nvPr/>
        </p:nvSpPr>
        <p:spPr>
          <a:xfrm>
            <a:off x="82296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Lifestyle and autonomic signals</a:t>
            </a:r>
            <a:endParaRPr lang="en-US" sz="1400" dirty="0"/>
          </a:p>
        </p:txBody>
      </p:sp>
      <p:sp>
        <p:nvSpPr>
          <p:cNvPr id="8" name="Class card 2"/>
          <p:cNvSpPr/>
          <p:nvPr/>
        </p:nvSpPr>
        <p:spPr>
          <a:xfrm>
            <a:off x="4069080" y="1463040"/>
            <a:ext cx="3246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Class dot 2"/>
          <p:cNvSpPr/>
          <p:nvPr/>
        </p:nvSpPr>
        <p:spPr>
          <a:xfrm>
            <a:off x="4343400" y="1737360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Class name 2"/>
          <p:cNvSpPr txBox="1"/>
          <p:nvPr/>
        </p:nvSpPr>
        <p:spPr>
          <a:xfrm>
            <a:off x="4709160" y="1682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Mild Event</a:t>
            </a:r>
            <a:endParaRPr lang="en-US" sz="1800" dirty="0"/>
          </a:p>
        </p:txBody>
      </p:sp>
      <p:sp>
        <p:nvSpPr>
          <p:cNvPr id="11" name="Class drivers 2"/>
          <p:cNvSpPr txBox="1"/>
          <p:nvPr/>
        </p:nvSpPr>
        <p:spPr>
          <a:xfrm>
            <a:off x="434340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HRV (SDNN)  0.44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Blood oxygen  0.27</a:t>
            </a:r>
            <a:endParaRPr lang="en-US" sz="1500" dirty="0"/>
          </a:p>
        </p:txBody>
      </p:sp>
      <p:sp>
        <p:nvSpPr>
          <p:cNvPr id="12" name="Class meaning 2"/>
          <p:cNvSpPr txBox="1"/>
          <p:nvPr/>
        </p:nvSpPr>
        <p:spPr>
          <a:xfrm>
            <a:off x="4343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Heart-rate variability and oxygenation</a:t>
            </a:r>
            <a:endParaRPr lang="en-US" sz="1400" dirty="0"/>
          </a:p>
        </p:txBody>
      </p:sp>
      <p:sp>
        <p:nvSpPr>
          <p:cNvPr id="13" name="Class card 3"/>
          <p:cNvSpPr/>
          <p:nvPr/>
        </p:nvSpPr>
        <p:spPr>
          <a:xfrm>
            <a:off x="548640" y="3749040"/>
            <a:ext cx="3246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Class dot 3"/>
          <p:cNvSpPr/>
          <p:nvPr/>
        </p:nvSpPr>
        <p:spPr>
          <a:xfrm>
            <a:off x="822960" y="402336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Class name 3"/>
          <p:cNvSpPr txBox="1"/>
          <p:nvPr/>
        </p:nvSpPr>
        <p:spPr>
          <a:xfrm>
            <a:off x="1188720" y="3968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Moderate Event</a:t>
            </a:r>
            <a:endParaRPr lang="en-US" sz="1800" dirty="0"/>
          </a:p>
        </p:txBody>
      </p:sp>
      <p:sp>
        <p:nvSpPr>
          <p:cNvPr id="16" name="Class drivers 3"/>
          <p:cNvSpPr txBox="1"/>
          <p:nvPr/>
        </p:nvSpPr>
        <p:spPr>
          <a:xfrm>
            <a:off x="82296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Glucose level  0.55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Diastolic BP  0.37</a:t>
            </a:r>
            <a:endParaRPr lang="en-US" sz="1500" dirty="0"/>
          </a:p>
        </p:txBody>
      </p:sp>
      <p:sp>
        <p:nvSpPr>
          <p:cNvPr id="17" name="Class meaning 3"/>
          <p:cNvSpPr txBox="1"/>
          <p:nvPr/>
        </p:nvSpPr>
        <p:spPr>
          <a:xfrm>
            <a:off x="822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Glucose-led metabolic pattern</a:t>
            </a:r>
            <a:endParaRPr lang="en-US" sz="1400" dirty="0"/>
          </a:p>
        </p:txBody>
      </p:sp>
      <p:sp>
        <p:nvSpPr>
          <p:cNvPr id="18" name="Class card 4"/>
          <p:cNvSpPr/>
          <p:nvPr/>
        </p:nvSpPr>
        <p:spPr>
          <a:xfrm>
            <a:off x="4069080" y="3749040"/>
            <a:ext cx="3246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Class dot 4"/>
          <p:cNvSpPr/>
          <p:nvPr/>
        </p:nvSpPr>
        <p:spPr>
          <a:xfrm>
            <a:off x="4343400" y="4023360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Class name 4"/>
          <p:cNvSpPr txBox="1"/>
          <p:nvPr/>
        </p:nvSpPr>
        <p:spPr>
          <a:xfrm>
            <a:off x="4709160" y="3968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Severe Event</a:t>
            </a:r>
            <a:endParaRPr lang="en-US" sz="1800" dirty="0"/>
          </a:p>
        </p:txBody>
      </p:sp>
      <p:sp>
        <p:nvSpPr>
          <p:cNvPr id="21" name="Class drivers 4"/>
          <p:cNvSpPr txBox="1"/>
          <p:nvPr/>
        </p:nvSpPr>
        <p:spPr>
          <a:xfrm>
            <a:off x="434340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Systolic BP  0.51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Diastolic BP  0.49</a:t>
            </a:r>
            <a:endParaRPr lang="en-US" sz="1500" dirty="0"/>
          </a:p>
        </p:txBody>
      </p:sp>
      <p:sp>
        <p:nvSpPr>
          <p:cNvPr id="22" name="Class meaning 4"/>
          <p:cNvSpPr txBox="1"/>
          <p:nvPr/>
        </p:nvSpPr>
        <p:spPr>
          <a:xfrm>
            <a:off x="434340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Blood-pressure crisis pattern</a:t>
            </a:r>
            <a:endParaRPr lang="en-US" sz="1400" dirty="0"/>
          </a:p>
        </p:txBody>
      </p:sp>
      <p:sp>
        <p:nvSpPr>
          <p:cNvPr id="23" name="Importance caption"/>
          <p:cNvSpPr txBox="1"/>
          <p:nvPr/>
        </p:nvSpPr>
        <p:spPr>
          <a:xfrm>
            <a:off x="548640" y="5897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Numbers: global feature importance (absolute weight) from the DP-protected model.</a:t>
            </a:r>
            <a:endParaRPr lang="en-US" sz="1200" dirty="0"/>
          </a:p>
        </p:txBody>
      </p:sp>
      <p:sp>
        <p:nvSpPr>
          <p:cNvPr id="24" name="Alert panel"/>
          <p:cNvSpPr/>
          <p:nvPr/>
        </p:nvSpPr>
        <p:spPr>
          <a:xfrm>
            <a:off x="7680960" y="1463040"/>
            <a:ext cx="3959352" cy="4297680"/>
          </a:xfrm>
          <a:prstGeom prst="roundRect">
            <a:avLst>
              <a:gd name="adj" fmla="val 2771"/>
            </a:avLst>
          </a:prstGeom>
          <a:solidFill>
            <a:schemeClr val="tx1"/>
          </a:solidFill>
          <a:ln/>
        </p:spPr>
      </p:sp>
      <p:sp>
        <p:nvSpPr>
          <p:cNvPr id="25" name="Alert label"/>
          <p:cNvSpPr txBox="1"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ON-DEVICE ALERT (SAMPLE)</a:t>
            </a:r>
            <a:endParaRPr lang="en-US" sz="1200" dirty="0"/>
          </a:p>
        </p:txBody>
      </p:sp>
      <p:sp>
        <p:nvSpPr>
          <p:cNvPr id="26" name="Alert class"/>
          <p:cNvSpPr txBox="1"/>
          <p:nvPr/>
        </p:nvSpPr>
        <p:spPr>
          <a:xfrm>
            <a:off x="804672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Normal</a:t>
            </a:r>
            <a:endParaRPr lang="en-US" sz="3200" dirty="0"/>
          </a:p>
        </p:txBody>
      </p:sp>
      <p:sp>
        <p:nvSpPr>
          <p:cNvPr id="27" name="Alert subhead"/>
          <p:cNvSpPr txBox="1"/>
          <p:nvPr/>
        </p:nvSpPr>
        <p:spPr>
          <a:xfrm>
            <a:off x="804672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Top factors behind this prediction</a:t>
            </a:r>
            <a:endParaRPr lang="en-US" sz="1400" dirty="0"/>
          </a:p>
        </p:txBody>
      </p:sp>
      <p:sp>
        <p:nvSpPr>
          <p:cNvPr id="28" name="Alert factors"/>
          <p:cNvSpPr txBox="1"/>
          <p:nvPr/>
        </p:nvSpPr>
        <p:spPr>
          <a:xfrm>
            <a:off x="8046720" y="3291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Stress level  ↑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HRV (SDNN)  ↑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HR-to-stress ratio  ↑</a:t>
            </a:r>
            <a:endParaRPr lang="en-US" sz="1800" dirty="0"/>
          </a:p>
        </p:txBody>
      </p:sp>
      <p:sp>
        <p:nvSpPr>
          <p:cNvPr id="29" name="Alert footnote"/>
          <p:cNvSpPr txBox="1"/>
          <p:nvPr/>
        </p:nvSpPr>
        <p:spPr>
          <a:xfrm>
            <a:off x="8046720" y="44805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↑ supports the predicted class. Computed on the phone with SHAP; global importance uses already-noised weights, so it costs no extra privacy.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Backed by published research</a:t>
            </a:r>
            <a:endParaRPr lang="en-US" sz="3400" dirty="0"/>
          </a:p>
        </p:txBody>
      </p:sp>
      <p:sp>
        <p:nvSpPr>
          <p:cNvPr id="3" name="Publication card 1"/>
          <p:cNvSpPr/>
          <p:nvPr/>
        </p:nvSpPr>
        <p:spPr>
          <a:xfrm>
            <a:off x="548640" y="1463040"/>
            <a:ext cx="3566160" cy="3794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Status chip 1"/>
          <p:cNvSpPr/>
          <p:nvPr/>
        </p:nvSpPr>
        <p:spPr>
          <a:xfrm>
            <a:off x="822960" y="1737360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5" name="Status chip 1 text"/>
          <p:cNvSpPr txBox="1"/>
          <p:nvPr/>
        </p:nvSpPr>
        <p:spPr>
          <a:xfrm>
            <a:off x="822960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PUBLISHED</a:t>
            </a:r>
            <a:endParaRPr lang="en-US" sz="1100" dirty="0"/>
          </a:p>
        </p:txBody>
      </p:sp>
      <p:sp>
        <p:nvSpPr>
          <p:cNvPr id="6" name="Venue 1"/>
          <p:cNvSpPr txBox="1"/>
          <p:nvPr/>
        </p:nvSpPr>
        <p:spPr>
          <a:xfrm>
            <a:off x="2377440" y="1737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IEEE MPCON 2026</a:t>
            </a:r>
            <a:endParaRPr lang="en-US" sz="1200" dirty="0"/>
          </a:p>
        </p:txBody>
      </p:sp>
      <p:sp>
        <p:nvSpPr>
          <p:cNvPr id="7" name="Paper title 1"/>
          <p:cNvSpPr txBox="1"/>
          <p:nvPr/>
        </p:nvSpPr>
        <p:spPr>
          <a:xfrm>
            <a:off x="82296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Differential Privacy for Medical Data Analysis</a:t>
            </a:r>
            <a:endParaRPr lang="en-US" sz="1500" dirty="0"/>
          </a:p>
        </p:txBody>
      </p:sp>
      <p:sp>
        <p:nvSpPr>
          <p:cNvPr id="8" name="Paper summary 1"/>
          <p:cNvSpPr txBox="1"/>
          <p:nvPr/>
        </p:nvSpPr>
        <p:spPr>
          <a:xfrm>
            <a:off x="82296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Laplace DP, random-forest risk prediction and blockchain-logged alerts on 25,000 records (8 respiratory diseases).</a:t>
            </a:r>
            <a:endParaRPr lang="en-US" sz="1400" dirty="0"/>
          </a:p>
        </p:txBody>
      </p:sp>
      <p:sp>
        <p:nvSpPr>
          <p:cNvPr id="9" name="Paper meta 1"/>
          <p:cNvSpPr txBox="1"/>
          <p:nvPr/>
        </p:nvSpPr>
        <p:spPr>
          <a:xfrm>
            <a:off x="822960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G. Misra, B. Hazela, B. K. Chaurasia, A. Singh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DOI 10.1109/MPCON69668.2026.11508248</a:t>
            </a:r>
            <a:endParaRPr lang="en-US" sz="1100" dirty="0"/>
          </a:p>
        </p:txBody>
      </p:sp>
      <p:sp>
        <p:nvSpPr>
          <p:cNvPr id="10" name="Publication card 2"/>
          <p:cNvSpPr/>
          <p:nvPr/>
        </p:nvSpPr>
        <p:spPr>
          <a:xfrm>
            <a:off x="4311396" y="1463040"/>
            <a:ext cx="3566160" cy="3794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Status chip 2"/>
          <p:cNvSpPr/>
          <p:nvPr/>
        </p:nvSpPr>
        <p:spPr>
          <a:xfrm>
            <a:off x="4585716" y="1737360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2" name="Status chip 2 text"/>
          <p:cNvSpPr txBox="1"/>
          <p:nvPr/>
        </p:nvSpPr>
        <p:spPr>
          <a:xfrm>
            <a:off x="4585716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3" name="Venue 2"/>
          <p:cNvSpPr txBox="1"/>
          <p:nvPr/>
        </p:nvSpPr>
        <p:spPr>
          <a:xfrm>
            <a:off x="6140196" y="1737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IEEE</a:t>
            </a:r>
            <a:endParaRPr lang="en-US" sz="1200" dirty="0"/>
          </a:p>
        </p:txBody>
      </p:sp>
      <p:sp>
        <p:nvSpPr>
          <p:cNvPr id="14" name="Paper title 2"/>
          <p:cNvSpPr txBox="1"/>
          <p:nvPr/>
        </p:nvSpPr>
        <p:spPr>
          <a:xfrm>
            <a:off x="4585716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Federated Learning with Differential Privacy and Explainable AI for Secure Healthcare Data Analysis</a:t>
            </a:r>
            <a:endParaRPr lang="en-US" sz="1500" dirty="0"/>
          </a:p>
        </p:txBody>
      </p:sp>
      <p:sp>
        <p:nvSpPr>
          <p:cNvPr id="15" name="Paper summary 2"/>
          <p:cNvSpPr txBox="1"/>
          <p:nvPr/>
        </p:nvSpPr>
        <p:spPr>
          <a:xfrm>
            <a:off x="4585716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work: FedAvg, single-release DP and on-device SHAP. 97.15% accuracy at ε = 1.0.</a:t>
            </a:r>
            <a:endParaRPr lang="en-US" sz="1400" dirty="0"/>
          </a:p>
        </p:txBody>
      </p:sp>
      <p:sp>
        <p:nvSpPr>
          <p:cNvPr id="16" name="Paper meta 2"/>
          <p:cNvSpPr txBox="1"/>
          <p:nvPr/>
        </p:nvSpPr>
        <p:spPr>
          <a:xfrm>
            <a:off x="4585716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A. Singh, G. Bajpai, A. Bajpai, A. P. Tripathi</a:t>
            </a:r>
            <a:endParaRPr lang="en-US" sz="1100" dirty="0"/>
          </a:p>
        </p:txBody>
      </p:sp>
      <p:sp>
        <p:nvSpPr>
          <p:cNvPr id="17" name="Publication card 3"/>
          <p:cNvSpPr/>
          <p:nvPr/>
        </p:nvSpPr>
        <p:spPr>
          <a:xfrm>
            <a:off x="8074152" y="1463040"/>
            <a:ext cx="3566160" cy="37947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8" name="Status chip 3"/>
          <p:cNvSpPr/>
          <p:nvPr/>
        </p:nvSpPr>
        <p:spPr>
          <a:xfrm>
            <a:off x="8348472" y="1737360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</p:sp>
      <p:sp>
        <p:nvSpPr>
          <p:cNvPr id="19" name="Status chip 3 text"/>
          <p:cNvSpPr txBox="1"/>
          <p:nvPr/>
        </p:nvSpPr>
        <p:spPr>
          <a:xfrm>
            <a:off x="8348472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OPEN SOURCE</a:t>
            </a:r>
            <a:endParaRPr lang="en-US" sz="1100" dirty="0"/>
          </a:p>
        </p:txBody>
      </p:sp>
      <p:sp>
        <p:nvSpPr>
          <p:cNvPr id="20" name="Venue 3"/>
          <p:cNvSpPr txBox="1"/>
          <p:nvPr/>
        </p:nvSpPr>
        <p:spPr>
          <a:xfrm>
            <a:off x="9902952" y="1737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GitHub and Kaggle</a:t>
            </a:r>
            <a:endParaRPr lang="en-US" sz="1200" dirty="0"/>
          </a:p>
        </p:txBody>
      </p:sp>
      <p:sp>
        <p:nvSpPr>
          <p:cNvPr id="21" name="Paper title 3"/>
          <p:cNvSpPr txBox="1"/>
          <p:nvPr/>
        </p:nvSpPr>
        <p:spPr>
          <a:xfrm>
            <a:off x="8348472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PulseForge code and trained model</a:t>
            </a:r>
            <a:endParaRPr lang="en-US" sz="1500" dirty="0"/>
          </a:p>
        </p:txBody>
      </p:sp>
      <p:sp>
        <p:nvSpPr>
          <p:cNvPr id="22" name="Paper summary 3"/>
          <p:cNvSpPr txBox="1"/>
          <p:nvPr/>
        </p:nvSpPr>
        <p:spPr>
          <a:xfrm>
            <a:off x="8348472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Code, trained model, plots and reproducible runs (fixed seed 42).</a:t>
            </a:r>
            <a:endParaRPr lang="en-US" sz="1400" dirty="0"/>
          </a:p>
        </p:txBody>
      </p:sp>
      <p:sp>
        <p:nvSpPr>
          <p:cNvPr id="23" name="Paper meta 3"/>
          <p:cNvSpPr txBox="1"/>
          <p:nvPr/>
        </p:nvSpPr>
        <p:spPr>
          <a:xfrm>
            <a:off x="8348472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github.com/Anurag-kushwaha2207/PulseForge_Pranveer-Singh-Institute-of-Technology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kaggle.com/m/744851</a:t>
            </a:r>
            <a:endParaRPr lang="en-US" sz="1100" dirty="0"/>
          </a:p>
        </p:txBody>
      </p:sp>
      <p:sp>
        <p:nvSpPr>
          <p:cNvPr id="24" name="Research takeaway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5" name="Research takeaway text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Our published work applied differential privacy in a centralised pipeline. PulseForge extends it to many devices, with explanations.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simulation to real users</a:t>
            </a:r>
            <a:endParaRPr lang="en-US" sz="3400" dirty="0"/>
          </a:p>
        </p:txBody>
      </p:sp>
      <p:sp>
        <p:nvSpPr>
          <p:cNvPr id="3" name="Timeline line"/>
          <p:cNvSpPr/>
          <p:nvPr/>
        </p:nvSpPr>
        <p:spPr>
          <a:xfrm>
            <a:off x="914400" y="1965960"/>
            <a:ext cx="10378440" cy="0"/>
          </a:xfrm>
          <a:prstGeom prst="line">
            <a:avLst/>
          </a:prstGeom>
          <a:noFill/>
          <a:ln w="25400">
            <a:solidFill>
              <a:srgbClr val="D9E2E8"/>
            </a:solidFill>
            <a:prstDash val="solid"/>
          </a:ln>
        </p:spPr>
      </p:sp>
      <p:sp>
        <p:nvSpPr>
          <p:cNvPr id="4" name="Roadmap 1 circle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adma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05940"/>
            <a:ext cx="320040" cy="320040"/>
          </a:xfrm>
          <a:prstGeom prst="rect">
            <a:avLst/>
          </a:prstGeom>
        </p:spPr>
      </p:pic>
      <p:sp>
        <p:nvSpPr>
          <p:cNvPr id="6" name="Roadmap card 1"/>
          <p:cNvSpPr/>
          <p:nvPr/>
        </p:nvSpPr>
        <p:spPr>
          <a:xfrm>
            <a:off x="548640" y="260604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Roadmap 1 tag"/>
          <p:cNvSpPr txBox="1"/>
          <p:nvPr/>
        </p:nvSpPr>
        <p:spPr>
          <a:xfrm>
            <a:off x="822960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DONE</a:t>
            </a:r>
            <a:endParaRPr lang="en-US" sz="1200" dirty="0"/>
          </a:p>
        </p:txBody>
      </p:sp>
      <p:sp>
        <p:nvSpPr>
          <p:cNvPr id="8" name="Roadmap 1 title"/>
          <p:cNvSpPr txBox="1"/>
          <p:nvPr/>
        </p:nvSpPr>
        <p:spPr>
          <a:xfrm>
            <a:off x="82296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Validated on 3 clients</a:t>
            </a:r>
            <a:endParaRPr lang="en-US" sz="1800" dirty="0"/>
          </a:p>
        </p:txBody>
      </p:sp>
      <p:sp>
        <p:nvSpPr>
          <p:cNvPr id="9" name="Roadmap 1 text"/>
          <p:cNvSpPr txBox="1"/>
          <p:nvPr/>
        </p:nvSpPr>
        <p:spPr>
          <a:xfrm>
            <a:off x="822960" y="3794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FL, DP and XAI pipeline reaches 97.15% accuracy. Code released; one paper published, one submitted.</a:t>
            </a:r>
            <a:endParaRPr lang="en-US" sz="1400" dirty="0"/>
          </a:p>
        </p:txBody>
      </p:sp>
      <p:sp>
        <p:nvSpPr>
          <p:cNvPr id="10" name="Roadmap 2 circle"/>
          <p:cNvSpPr/>
          <p:nvPr/>
        </p:nvSpPr>
        <p:spPr>
          <a:xfrm>
            <a:off x="3465576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Roadma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1805940"/>
            <a:ext cx="320040" cy="320040"/>
          </a:xfrm>
          <a:prstGeom prst="rect">
            <a:avLst/>
          </a:prstGeom>
        </p:spPr>
      </p:pic>
      <p:sp>
        <p:nvSpPr>
          <p:cNvPr id="12" name="Roadmap card 2"/>
          <p:cNvSpPr/>
          <p:nvPr/>
        </p:nvSpPr>
        <p:spPr>
          <a:xfrm>
            <a:off x="3374136" y="260604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3" name="Roadmap 2 tag"/>
          <p:cNvSpPr txBox="1"/>
          <p:nvPr/>
        </p:nvSpPr>
        <p:spPr>
          <a:xfrm>
            <a:off x="3648456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</a:t>
            </a:r>
            <a:endParaRPr lang="en-US" sz="1200" dirty="0"/>
          </a:p>
        </p:txBody>
      </p:sp>
      <p:sp>
        <p:nvSpPr>
          <p:cNvPr id="14" name="Roadmap 2 title"/>
          <p:cNvSpPr txBox="1"/>
          <p:nvPr/>
        </p:nvSpPr>
        <p:spPr>
          <a:xfrm>
            <a:off x="3648456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 wearable data</a:t>
            </a:r>
            <a:endParaRPr lang="en-US" sz="1800" dirty="0"/>
          </a:p>
        </p:txBody>
      </p:sp>
      <p:sp>
        <p:nvSpPr>
          <p:cNvPr id="15" name="Roadmap 2 text"/>
          <p:cNvSpPr txBox="1"/>
          <p:nvPr/>
        </p:nvSpPr>
        <p:spPr>
          <a:xfrm>
            <a:off x="3648456" y="3794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Google Fit consent flow: each user's account becomes one federated client.</a:t>
            </a:r>
            <a:endParaRPr lang="en-US" sz="1400" dirty="0"/>
          </a:p>
        </p:txBody>
      </p:sp>
      <p:sp>
        <p:nvSpPr>
          <p:cNvPr id="16" name="Roadmap 3 circle"/>
          <p:cNvSpPr/>
          <p:nvPr/>
        </p:nvSpPr>
        <p:spPr>
          <a:xfrm>
            <a:off x="6291072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adma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1805940"/>
            <a:ext cx="320040" cy="320040"/>
          </a:xfrm>
          <a:prstGeom prst="rect">
            <a:avLst/>
          </a:prstGeom>
        </p:spPr>
      </p:pic>
      <p:sp>
        <p:nvSpPr>
          <p:cNvPr id="18" name="Roadmap card 3"/>
          <p:cNvSpPr/>
          <p:nvPr/>
        </p:nvSpPr>
        <p:spPr>
          <a:xfrm>
            <a:off x="6199632" y="260604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9" name="Roadmap 3 tag"/>
          <p:cNvSpPr txBox="1"/>
          <p:nvPr/>
        </p:nvSpPr>
        <p:spPr>
          <a:xfrm>
            <a:off x="6473952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THEN</a:t>
            </a:r>
            <a:endParaRPr lang="en-US" sz="1200" dirty="0"/>
          </a:p>
        </p:txBody>
      </p:sp>
      <p:sp>
        <p:nvSpPr>
          <p:cNvPr id="20" name="Roadmap 3 title"/>
          <p:cNvSpPr txBox="1"/>
          <p:nvPr/>
        </p:nvSpPr>
        <p:spPr>
          <a:xfrm>
            <a:off x="6473952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service</a:t>
            </a:r>
            <a:endParaRPr lang="en-US" sz="1800" dirty="0"/>
          </a:p>
        </p:txBody>
      </p:sp>
      <p:sp>
        <p:nvSpPr>
          <p:cNvPr id="21" name="Roadmap 3 text"/>
          <p:cNvSpPr txBox="1"/>
          <p:nvPr/>
        </p:nvSpPr>
        <p:spPr>
          <a:xfrm>
            <a:off x="6473952" y="3794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Hosted FedAvg server, client sampling for many users, clinician dashboard.</a:t>
            </a:r>
            <a:endParaRPr lang="en-US" sz="1400" dirty="0"/>
          </a:p>
        </p:txBody>
      </p:sp>
      <p:sp>
        <p:nvSpPr>
          <p:cNvPr id="22" name="Roadmap 4 circle"/>
          <p:cNvSpPr/>
          <p:nvPr/>
        </p:nvSpPr>
        <p:spPr>
          <a:xfrm>
            <a:off x="9116568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Roadma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588" y="1805940"/>
            <a:ext cx="320040" cy="320040"/>
          </a:xfrm>
          <a:prstGeom prst="rect">
            <a:avLst/>
          </a:prstGeom>
        </p:spPr>
      </p:pic>
      <p:sp>
        <p:nvSpPr>
          <p:cNvPr id="24" name="Roadmap card 4"/>
          <p:cNvSpPr/>
          <p:nvPr/>
        </p:nvSpPr>
        <p:spPr>
          <a:xfrm>
            <a:off x="9025128" y="260604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5" name="Roadmap 4 tag"/>
          <p:cNvSpPr txBox="1"/>
          <p:nvPr/>
        </p:nvSpPr>
        <p:spPr>
          <a:xfrm>
            <a:off x="9299448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LATER</a:t>
            </a:r>
            <a:endParaRPr lang="en-US" sz="1200" dirty="0"/>
          </a:p>
        </p:txBody>
      </p:sp>
      <p:sp>
        <p:nvSpPr>
          <p:cNvPr id="26" name="Roadmap 4 title"/>
          <p:cNvSpPr txBox="1"/>
          <p:nvPr/>
        </p:nvSpPr>
        <p:spPr>
          <a:xfrm>
            <a:off x="9299448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Clinical validation</a:t>
            </a:r>
            <a:endParaRPr lang="en-US" sz="1800" dirty="0"/>
          </a:p>
        </p:txBody>
      </p:sp>
      <p:sp>
        <p:nvSpPr>
          <p:cNvPr id="27" name="Roadmap 4 text"/>
          <p:cNvSpPr txBox="1"/>
          <p:nvPr/>
        </p:nvSpPr>
        <p:spPr>
          <a:xfrm>
            <a:off x="9299448" y="3794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Multi-condition risk labels and clinician-reviewed explanations.</a:t>
            </a:r>
            <a:endParaRPr lang="en-US" sz="1400" dirty="0"/>
          </a:p>
        </p:txBody>
      </p:sp>
      <p:sp>
        <p:nvSpPr>
          <p:cNvPr id="28" name="Disclaimer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29" name="Disclaimer text"/>
          <p:cNvSpPr txBox="1"/>
          <p:nvPr/>
        </p:nvSpPr>
        <p:spPr>
          <a:xfrm>
            <a:off x="868680" y="5303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Research prototype, not a medical device: clinical validation comes before any deployment.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Team PulseForge</a:t>
            </a:r>
            <a:endParaRPr lang="en-US" sz="4400" dirty="0"/>
          </a:p>
        </p:txBody>
      </p:sp>
      <p:sp>
        <p:nvSpPr>
          <p:cNvPr id="3" name="Member card 1"/>
          <p:cNvSpPr/>
          <p:nvPr/>
        </p:nvSpPr>
        <p:spPr>
          <a:xfrm>
            <a:off x="822960" y="192024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Member 1 circle"/>
          <p:cNvSpPr/>
          <p:nvPr/>
        </p:nvSpPr>
        <p:spPr>
          <a:xfrm>
            <a:off x="105156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embe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86000"/>
            <a:ext cx="274320" cy="274320"/>
          </a:xfrm>
          <a:prstGeom prst="rect">
            <a:avLst/>
          </a:prstGeom>
        </p:spPr>
      </p:pic>
      <p:sp>
        <p:nvSpPr>
          <p:cNvPr id="6" name="Member name 1"/>
          <p:cNvSpPr txBox="1"/>
          <p:nvPr/>
        </p:nvSpPr>
        <p:spPr>
          <a:xfrm>
            <a:off x="105156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Anurag Singh</a:t>
            </a:r>
            <a:endParaRPr lang="en-US" sz="1700" dirty="0"/>
          </a:p>
        </p:txBody>
      </p:sp>
      <p:sp>
        <p:nvSpPr>
          <p:cNvPr id="7" name="Member role 1"/>
          <p:cNvSpPr txBox="1"/>
          <p:nvPr/>
        </p:nvSpPr>
        <p:spPr>
          <a:xfrm>
            <a:off x="17373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Team Leader</a:t>
            </a:r>
            <a:endParaRPr lang="en-US" sz="1200" dirty="0"/>
          </a:p>
        </p:txBody>
      </p:sp>
      <p:sp>
        <p:nvSpPr>
          <p:cNvPr id="8" name="Member card 2"/>
          <p:cNvSpPr/>
          <p:nvPr/>
        </p:nvSpPr>
        <p:spPr>
          <a:xfrm>
            <a:off x="3520440" y="192024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Member 2 circle"/>
          <p:cNvSpPr/>
          <p:nvPr/>
        </p:nvSpPr>
        <p:spPr>
          <a:xfrm>
            <a:off x="374904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embe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286000"/>
            <a:ext cx="274320" cy="274320"/>
          </a:xfrm>
          <a:prstGeom prst="rect">
            <a:avLst/>
          </a:prstGeom>
        </p:spPr>
      </p:pic>
      <p:sp>
        <p:nvSpPr>
          <p:cNvPr id="11" name="Member name 2"/>
          <p:cNvSpPr txBox="1"/>
          <p:nvPr/>
        </p:nvSpPr>
        <p:spPr>
          <a:xfrm>
            <a:off x="374904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Aaditya Prakash Tripathi</a:t>
            </a:r>
            <a:endParaRPr lang="en-US" sz="1700" dirty="0"/>
          </a:p>
        </p:txBody>
      </p:sp>
      <p:sp>
        <p:nvSpPr>
          <p:cNvPr id="12" name="Member card 3"/>
          <p:cNvSpPr/>
          <p:nvPr/>
        </p:nvSpPr>
        <p:spPr>
          <a:xfrm>
            <a:off x="6217920" y="192024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Member 3 circle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embe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274320" cy="274320"/>
          </a:xfrm>
          <a:prstGeom prst="rect">
            <a:avLst/>
          </a:prstGeom>
        </p:spPr>
      </p:pic>
      <p:sp>
        <p:nvSpPr>
          <p:cNvPr id="15" name="Member name 3"/>
          <p:cNvSpPr txBox="1"/>
          <p:nvPr/>
        </p:nvSpPr>
        <p:spPr>
          <a:xfrm>
            <a:off x="644652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Anuj Gaur</a:t>
            </a:r>
            <a:endParaRPr lang="en-US" sz="1700" dirty="0"/>
          </a:p>
        </p:txBody>
      </p:sp>
      <p:sp>
        <p:nvSpPr>
          <p:cNvPr id="16" name="Member card 4"/>
          <p:cNvSpPr/>
          <p:nvPr/>
        </p:nvSpPr>
        <p:spPr>
          <a:xfrm>
            <a:off x="8915400" y="1920240"/>
            <a:ext cx="2468880" cy="1600200"/>
          </a:xfrm>
          <a:prstGeom prst="roundRect">
            <a:avLst>
              <a:gd name="adj" fmla="val 685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7" name="Member 4 circle"/>
          <p:cNvSpPr/>
          <p:nvPr/>
        </p:nvSpPr>
        <p:spPr>
          <a:xfrm>
            <a:off x="914400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Member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286000"/>
            <a:ext cx="274320" cy="274320"/>
          </a:xfrm>
          <a:prstGeom prst="rect">
            <a:avLst/>
          </a:prstGeom>
        </p:spPr>
      </p:pic>
      <p:sp>
        <p:nvSpPr>
          <p:cNvPr id="19" name="Member name 4"/>
          <p:cNvSpPr txBox="1"/>
          <p:nvPr/>
        </p:nvSpPr>
        <p:spPr>
          <a:xfrm>
            <a:off x="914400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Anuj Singh</a:t>
            </a:r>
            <a:endParaRPr lang="en-US" sz="1700" dirty="0"/>
          </a:p>
        </p:txBody>
      </p:sp>
      <p:sp>
        <p:nvSpPr>
          <p:cNvPr id="20" name="Institute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Pranveer Singh Institute of Technology, Kanpur</a:t>
            </a:r>
            <a:endParaRPr lang="en-US" sz="1800" dirty="0"/>
          </a:p>
        </p:txBody>
      </p:sp>
      <p:sp>
        <p:nvSpPr>
          <p:cNvPr id="21" name="Repo link">
            <a:hlinkClick r:id="rId5" tooltip=""/>
          </p:cNvPr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chemeClr val="accent6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github.com/Anurag-kushwaha2207/PulseForge_Pranveer-Singh-Institute-of-Technology</a:t>
            </a:r>
            <a:endParaRPr lang="en-US" sz="1600" dirty="0"/>
          </a:p>
        </p:txBody>
      </p:sp>
      <p:sp>
        <p:nvSpPr>
          <p:cNvPr id="22" name="Pulse line"/>
          <p:cNvSpPr/>
          <p:nvPr/>
        </p:nvSpPr>
        <p:spPr>
          <a:xfrm>
            <a:off x="822960" y="5029200"/>
            <a:ext cx="10515600" cy="822960"/>
          </a:xfrm>
          <a:custGeom>
            <a:avLst/>
            <a:gdLst/>
            <a:ahLst/>
            <a:cxnLst/>
            <a:rect l="l" t="t" r="r" b="b"/>
            <a:pathLst>
              <a:path w="10515600" h="822960">
                <a:moveTo>
                  <a:pt x="0" y="411480"/>
                </a:moveTo>
                <a:lnTo>
                  <a:pt x="3785616" y="411480"/>
                </a:lnTo>
                <a:lnTo>
                  <a:pt x="4101084" y="296266"/>
                </a:lnTo>
                <a:lnTo>
                  <a:pt x="4416552" y="411480"/>
                </a:lnTo>
                <a:lnTo>
                  <a:pt x="4942332" y="411480"/>
                </a:lnTo>
                <a:lnTo>
                  <a:pt x="5152644" y="477317"/>
                </a:lnTo>
                <a:lnTo>
                  <a:pt x="5468112" y="32918"/>
                </a:lnTo>
                <a:lnTo>
                  <a:pt x="5783580" y="781812"/>
                </a:lnTo>
                <a:lnTo>
                  <a:pt x="6099048" y="411480"/>
                </a:lnTo>
                <a:lnTo>
                  <a:pt x="6729984" y="411480"/>
                </a:lnTo>
                <a:lnTo>
                  <a:pt x="6940296" y="329184"/>
                </a:lnTo>
                <a:lnTo>
                  <a:pt x="7255764" y="411480"/>
                </a:lnTo>
                <a:lnTo>
                  <a:pt x="10515600" y="411480"/>
                </a:lnTo>
              </a:path>
            </a:pathLst>
          </a:custGeom>
          <a:ln w="31750">
            <a:solidFill>
              <a:schemeClr val="accent2"/>
            </a:solidFill>
            <a:prstDash val="solid"/>
          </a:ln>
        </p:spPr>
      </p:sp>
      <p:sp>
        <p:nvSpPr>
          <p:cNvPr id="23" name="Thank you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Forge">
  <a:themeElements>
    <a:clrScheme name="PulseForge">
      <a:dk1>
        <a:srgbClr val="0B2239"/>
      </a:dk1>
      <a:lt1>
        <a:srgbClr val="FFFFFF"/>
      </a:lt1>
      <a:dk2>
        <a:srgbClr val="4A5A6A"/>
      </a:dk2>
      <a:lt2>
        <a:srgbClr val="EAF4F4"/>
      </a:lt2>
      <a:accent1>
        <a:srgbClr val="0E8F8F"/>
      </a:accent1>
      <a:accent2>
        <a:srgbClr val="E4572E"/>
      </a:accent2>
      <a:accent3>
        <a:srgbClr val="1F5F8B"/>
      </a:accent3>
      <a:accent4>
        <a:srgbClr val="F2B134"/>
      </a:accent4>
      <a:accent5>
        <a:srgbClr val="B3261E"/>
      </a:accent5>
      <a:accent6>
        <a:srgbClr val="7BC8C0"/>
      </a:accent6>
      <a:hlink>
        <a:srgbClr val="0E8F8F"/>
      </a:hlink>
      <a:folHlink>
        <a:srgbClr val="6C7A89"/>
      </a:folHlink>
    </a:clrScheme>
    <a:fontScheme name="PulseFor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PulseForge - Digital Twin Challenge 2026</dc:title>
  <dc:subject>PptxGenJS Presentation</dc:subject>
  <dc:creator>Team PulseForge</dc:creator>
  <cp:lastModifiedBy>Team PulseForge</cp:lastModifiedBy>
  <cp:revision>1</cp:revision>
  <dcterms:created xsi:type="dcterms:W3CDTF">2026-10-22T05:49:05Z</dcterms:created>
  <dcterms:modified xsi:type="dcterms:W3CDTF">2026-10-22T05:49:05Z</dcterms:modified>
</cp:coreProperties>
</file>